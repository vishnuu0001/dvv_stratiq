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8" r:id="rId2"/>
    <p:sldId id="269" r:id="rId3"/>
    <p:sldId id="270" r:id="rId4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Vishnuu" userId="1dcf04fb-f7a6-489f-93ef-ad148b0820f5" providerId="ADAL" clId="{BA7EBDC4-F266-4CAB-9333-D7C6478F7862}"/>
    <pc:docChg chg="custSel delSld modSld">
      <pc:chgData name="A Vishnuu" userId="1dcf04fb-f7a6-489f-93ef-ad148b0820f5" providerId="ADAL" clId="{BA7EBDC4-F266-4CAB-9333-D7C6478F7862}" dt="2026-08-14T10:45:11.144" v="72" actId="13926"/>
      <pc:docMkLst>
        <pc:docMk/>
      </pc:docMkLst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56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57"/>
        </pc:sldMkLst>
      </pc:sldChg>
      <pc:sldChg chg="del">
        <pc:chgData name="A Vishnuu" userId="1dcf04fb-f7a6-489f-93ef-ad148b0820f5" providerId="ADAL" clId="{BA7EBDC4-F266-4CAB-9333-D7C6478F7862}" dt="2026-08-14T06:35:31.656" v="56" actId="47"/>
        <pc:sldMkLst>
          <pc:docMk/>
          <pc:sldMk cId="0" sldId="258"/>
        </pc:sldMkLst>
      </pc:sldChg>
      <pc:sldChg chg="del">
        <pc:chgData name="A Vishnuu" userId="1dcf04fb-f7a6-489f-93ef-ad148b0820f5" providerId="ADAL" clId="{BA7EBDC4-F266-4CAB-9333-D7C6478F7862}" dt="2026-08-14T06:35:33.669" v="57" actId="47"/>
        <pc:sldMkLst>
          <pc:docMk/>
          <pc:sldMk cId="0" sldId="259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60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61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62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63"/>
        </pc:sldMkLst>
      </pc:sldChg>
      <pc:sldChg chg="del">
        <pc:chgData name="A Vishnuu" userId="1dcf04fb-f7a6-489f-93ef-ad148b0820f5" providerId="ADAL" clId="{BA7EBDC4-F266-4CAB-9333-D7C6478F7862}" dt="2026-08-14T06:35:29.956" v="55" actId="47"/>
        <pc:sldMkLst>
          <pc:docMk/>
          <pc:sldMk cId="0" sldId="264"/>
        </pc:sldMkLst>
      </pc:sldChg>
      <pc:sldChg chg="del">
        <pc:chgData name="A Vishnuu" userId="1dcf04fb-f7a6-489f-93ef-ad148b0820f5" providerId="ADAL" clId="{BA7EBDC4-F266-4CAB-9333-D7C6478F7862}" dt="2026-08-14T06:35:41.091" v="58" actId="47"/>
        <pc:sldMkLst>
          <pc:docMk/>
          <pc:sldMk cId="0" sldId="265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66"/>
        </pc:sldMkLst>
      </pc:sldChg>
      <pc:sldChg chg="del">
        <pc:chgData name="A Vishnuu" userId="1dcf04fb-f7a6-489f-93ef-ad148b0820f5" providerId="ADAL" clId="{BA7EBDC4-F266-4CAB-9333-D7C6478F7862}" dt="2026-08-14T06:34:30.459" v="0" actId="2696"/>
        <pc:sldMkLst>
          <pc:docMk/>
          <pc:sldMk cId="0" sldId="267"/>
        </pc:sldMkLst>
      </pc:sldChg>
      <pc:sldChg chg="delSp modSp mod">
        <pc:chgData name="A Vishnuu" userId="1dcf04fb-f7a6-489f-93ef-ad148b0820f5" providerId="ADAL" clId="{BA7EBDC4-F266-4CAB-9333-D7C6478F7862}" dt="2026-08-14T10:45:11.144" v="72" actId="13926"/>
        <pc:sldMkLst>
          <pc:docMk/>
          <pc:sldMk cId="0" sldId="268"/>
        </pc:sldMkLst>
        <pc:spChg chg="del">
          <ac:chgData name="A Vishnuu" userId="1dcf04fb-f7a6-489f-93ef-ad148b0820f5" providerId="ADAL" clId="{BA7EBDC4-F266-4CAB-9333-D7C6478F7862}" dt="2026-08-14T06:36:26.181" v="65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02.107" v="3" actId="255"/>
          <ac:spMkLst>
            <pc:docMk/>
            <pc:sldMk cId="0" sldId="268"/>
            <ac:spMk id="6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6:03.167" v="59" actId="478"/>
          <ac:spMkLst>
            <pc:docMk/>
            <pc:sldMk cId="0" sldId="268"/>
            <ac:spMk id="7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36.468" v="66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9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02.107" v="3" actId="255"/>
          <ac:spMkLst>
            <pc:docMk/>
            <pc:sldMk cId="0" sldId="268"/>
            <ac:spMk id="11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6:05.252" v="60" actId="478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4:49.306" v="1" actId="12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02.107" v="3" actId="255"/>
          <ac:spMkLst>
            <pc:docMk/>
            <pc:sldMk cId="0" sldId="268"/>
            <ac:spMk id="16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6:07.533" v="61" actId="478"/>
          <ac:spMkLst>
            <pc:docMk/>
            <pc:sldMk cId="0" sldId="268"/>
            <ac:spMk id="17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4:49.306" v="1" actId="123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02.107" v="3" actId="255"/>
          <ac:spMkLst>
            <pc:docMk/>
            <pc:sldMk cId="0" sldId="268"/>
            <ac:spMk id="21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6:09.767" v="62" actId="478"/>
          <ac:spMkLst>
            <pc:docMk/>
            <pc:sldMk cId="0" sldId="268"/>
            <ac:spMk id="2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23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24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25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02.107" v="3" actId="255"/>
          <ac:spMkLst>
            <pc:docMk/>
            <pc:sldMk cId="0" sldId="268"/>
            <ac:spMk id="26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6:11.496" v="63" actId="478"/>
          <ac:spMkLst>
            <pc:docMk/>
            <pc:sldMk cId="0" sldId="268"/>
            <ac:spMk id="27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10:45:11.144" v="72" actId="1392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29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30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02.107" v="3" actId="255"/>
          <ac:spMkLst>
            <pc:docMk/>
            <pc:sldMk cId="0" sldId="268"/>
            <ac:spMk id="31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6:14.556" v="64" actId="478"/>
          <ac:spMkLst>
            <pc:docMk/>
            <pc:sldMk cId="0" sldId="268"/>
            <ac:spMk id="3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4:49.306" v="1" actId="123"/>
          <ac:spMkLst>
            <pc:docMk/>
            <pc:sldMk cId="0" sldId="268"/>
            <ac:spMk id="33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34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42.322" v="67" actId="2711"/>
          <ac:spMkLst>
            <pc:docMk/>
            <pc:sldMk cId="0" sldId="268"/>
            <ac:spMk id="36" creationId="{00000000-0000-0000-0000-000000000000}"/>
          </ac:spMkLst>
        </pc:spChg>
      </pc:sldChg>
      <pc:sldChg chg="delSp modSp mod">
        <pc:chgData name="A Vishnuu" userId="1dcf04fb-f7a6-489f-93ef-ad148b0820f5" providerId="ADAL" clId="{BA7EBDC4-F266-4CAB-9333-D7C6478F7862}" dt="2026-08-14T06:36:58.117" v="68" actId="2711"/>
        <pc:sldMkLst>
          <pc:docMk/>
          <pc:sldMk cId="0" sldId="269"/>
        </pc:sldMkLst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4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5:12.514" v="6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5:11.607" v="5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A Vishnuu" userId="1dcf04fb-f7a6-489f-93ef-ad148b0820f5" providerId="ADAL" clId="{BA7EBDC4-F266-4CAB-9333-D7C6478F7862}" dt="2026-08-14T06:35:10.434" v="4" actId="478"/>
          <ac:spMkLst>
            <pc:docMk/>
            <pc:sldMk cId="0" sldId="269"/>
            <ac:spMk id="9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5:20.038" v="54" actId="103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21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2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24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29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3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34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6:58.117" v="68" actId="2711"/>
          <ac:spMkLst>
            <pc:docMk/>
            <pc:sldMk cId="0" sldId="269"/>
            <ac:spMk id="38" creationId="{00000000-0000-0000-0000-000000000000}"/>
          </ac:spMkLst>
        </pc:spChg>
      </pc:sldChg>
      <pc:sldChg chg="modSp mod">
        <pc:chgData name="A Vishnuu" userId="1dcf04fb-f7a6-489f-93ef-ad148b0820f5" providerId="ADAL" clId="{BA7EBDC4-F266-4CAB-9333-D7C6478F7862}" dt="2026-08-14T10:44:36.060" v="71" actId="313"/>
        <pc:sldMkLst>
          <pc:docMk/>
          <pc:sldMk cId="0" sldId="270"/>
        </pc:sldMkLst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5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6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7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12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13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16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06:37:10.545" v="70" actId="123"/>
          <ac:spMkLst>
            <pc:docMk/>
            <pc:sldMk cId="0" sldId="270"/>
            <ac:spMk id="20" creationId="{00000000-0000-0000-0000-000000000000}"/>
          </ac:spMkLst>
        </pc:spChg>
        <pc:spChg chg="mod">
          <ac:chgData name="A Vishnuu" userId="1dcf04fb-f7a6-489f-93ef-ad148b0820f5" providerId="ADAL" clId="{BA7EBDC4-F266-4CAB-9333-D7C6478F7862}" dt="2026-08-14T10:44:36.060" v="71" actId="313"/>
          <ac:spMkLst>
            <pc:docMk/>
            <pc:sldMk cId="0" sldId="270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74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50928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spc="300">
                <a:solidFill>
                  <a:srgbClr val="0078D4"/>
                </a:solidFill>
                <a:latin typeface="Aptos" panose="020B0004020202020204" pitchFamily="34" charset="0"/>
              </a:rPr>
              <a:t>AI LAB  ·  END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780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B2038"/>
                </a:solidFill>
                <a:latin typeface="Aptos" panose="020B0004020202020204" pitchFamily="34" charset="0"/>
              </a:rPr>
              <a:t>From discovery to daily use, in one front door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6840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5800" y="1815046"/>
            <a:ext cx="13640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00" y="2672768"/>
            <a:ext cx="1364020" cy="103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</a:pPr>
            <a:r>
              <a:rPr sz="930" b="0" dirty="0">
                <a:solidFill>
                  <a:srgbClr val="5B7A96"/>
                </a:solidFill>
                <a:latin typeface="Aptos" panose="020B0004020202020204" pitchFamily="34" charset="0"/>
              </a:rPr>
              <a:t>Browse the AI Lab catalog in the unified portal, </a:t>
            </a:r>
            <a:r>
              <a:rPr lang="en-US" sz="930" b="0" dirty="0">
                <a:solidFill>
                  <a:srgbClr val="5B7A96"/>
                </a:solidFill>
                <a:latin typeface="Aptos" panose="020B0004020202020204" pitchFamily="34" charset="0"/>
              </a:rPr>
              <a:t>A</a:t>
            </a:r>
            <a:r>
              <a:rPr sz="930" b="0" dirty="0">
                <a:solidFill>
                  <a:srgbClr val="5B7A96"/>
                </a:solidFill>
                <a:latin typeface="Aptos" panose="020B0004020202020204" pitchFamily="34" charset="0"/>
              </a:rPr>
              <a:t>from Copilot and Claude AI Studio to specialist tools like Google VEO or Runway.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00" y="5016504"/>
            <a:ext cx="1364020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 spc="100">
                <a:solidFill>
                  <a:srgbClr val="0078D4"/>
                </a:solidFill>
                <a:latin typeface="Aptos" panose="020B0004020202020204" pitchFamily="34" charset="0"/>
              </a:rPr>
              <a:t>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6980" y="1572768"/>
            <a:ext cx="16840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66980" y="1815046"/>
            <a:ext cx="13640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980" y="2672768"/>
            <a:ext cx="1364020" cy="860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</a:pPr>
            <a:r>
              <a:rPr sz="930" b="0" dirty="0">
                <a:solidFill>
                  <a:srgbClr val="5B7A96"/>
                </a:solidFill>
                <a:latin typeface="Aptos" panose="020B0004020202020204" pitchFamily="34" charset="0"/>
              </a:rPr>
              <a:t>Submit a short access request with a use-case note, and the Gateway auto-classifies its risk tier under the EU AI 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6980" y="5016504"/>
            <a:ext cx="1364020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 spc="100">
                <a:solidFill>
                  <a:srgbClr val="0078D4"/>
                </a:solidFill>
                <a:latin typeface="Aptos" panose="020B0004020202020204" pitchFamily="34" charset="0"/>
              </a:rPr>
              <a:t>AI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160" y="1572768"/>
            <a:ext cx="16840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8160" y="1815046"/>
            <a:ext cx="13640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8160" y="2672768"/>
            <a:ext cx="1364020" cy="860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</a:pPr>
            <a:r>
              <a:rPr sz="930" b="0" dirty="0">
                <a:solidFill>
                  <a:srgbClr val="5B7A96"/>
                </a:solidFill>
                <a:latin typeface="Aptos" panose="020B0004020202020204" pitchFamily="34" charset="0"/>
              </a:rPr>
              <a:t>Try it out on sample or synthetic data in the Innovation Zone, with no tenant approvals in the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8160" y="5016504"/>
            <a:ext cx="1364020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 spc="100">
                <a:solidFill>
                  <a:srgbClr val="0078D4"/>
                </a:solidFill>
                <a:latin typeface="Aptos" panose="020B0004020202020204" pitchFamily="34" charset="0"/>
              </a:rPr>
              <a:t>INNOVATION ZONE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1572768"/>
            <a:ext cx="16840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40" y="1815046"/>
            <a:ext cx="13640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40" y="2672768"/>
            <a:ext cx="1364020" cy="68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</a:pPr>
            <a:r>
              <a:rPr sz="930" b="0" dirty="0">
                <a:solidFill>
                  <a:srgbClr val="5B7A96"/>
                </a:solidFill>
                <a:latin typeface="Aptos" panose="020B0004020202020204" pitchFamily="34" charset="0"/>
              </a:rPr>
              <a:t>Rate the trial, confirm it's worth pursuing, and flag anything that needs real data or wider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40" y="5016504"/>
            <a:ext cx="1364020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 spc="100">
                <a:solidFill>
                  <a:srgbClr val="0078D4"/>
                </a:solidFill>
                <a:latin typeface="Aptos" panose="020B0004020202020204" pitchFamily="34" charset="0"/>
              </a:rPr>
              <a:t>PORTAL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0520" y="1572768"/>
            <a:ext cx="16840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30520" y="1815046"/>
            <a:ext cx="13640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0520" y="2672768"/>
            <a:ext cx="1364020" cy="68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</a:pPr>
            <a:r>
              <a:rPr sz="930" b="0" dirty="0">
                <a:solidFill>
                  <a:srgbClr val="5B7A96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TechM and Ahlstrom governance look over the request and, if it's a go, open up broader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0520" y="5016504"/>
            <a:ext cx="1364020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 spc="100" dirty="0">
                <a:solidFill>
                  <a:srgbClr val="0078D4"/>
                </a:solidFill>
                <a:latin typeface="Aptos" panose="020B0004020202020204" pitchFamily="34" charset="0"/>
              </a:rPr>
              <a:t>AI GATEWAY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1700" y="1572768"/>
            <a:ext cx="16840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51700" y="1815046"/>
            <a:ext cx="13640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1700" y="2672768"/>
            <a:ext cx="1364020" cy="86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</a:pPr>
            <a:r>
              <a:rPr sz="930" b="0">
                <a:solidFill>
                  <a:srgbClr val="5B7A96"/>
                </a:solidFill>
                <a:latin typeface="Aptos" panose="020B0004020202020204" pitchFamily="34" charset="0"/>
              </a:rPr>
              <a:t>The tool shows up in the user's workspace from then on, with usage, cost and audit tracked centrally.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1700" y="5016504"/>
            <a:ext cx="1364020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 spc="100">
                <a:solidFill>
                  <a:srgbClr val="0078D4"/>
                </a:solidFill>
                <a:latin typeface="Aptos" panose="020B0004020202020204" pitchFamily="34" charset="0"/>
              </a:rPr>
              <a:t>ENTERPRISE ZONE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413248"/>
            <a:ext cx="10789920" cy="676656"/>
          </a:xfrm>
          <a:prstGeom prst="roundRect">
            <a:avLst>
              <a:gd name="adj" fmla="val 12162"/>
            </a:avLst>
          </a:prstGeom>
          <a:solidFill>
            <a:srgbClr val="0B2C4A"/>
          </a:solidFill>
          <a:ln>
            <a:noFill/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5840" y="5655396"/>
            <a:ext cx="10149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FD6F2"/>
                </a:solidFill>
                <a:latin typeface="Aptos" panose="020B0004020202020204" pitchFamily="34" charset="0"/>
              </a:rPr>
              <a:t>One front door:   </a:t>
            </a:r>
            <a:r>
              <a:rPr sz="1250" b="1">
                <a:solidFill>
                  <a:srgbClr val="FFFFFF"/>
                </a:solidFill>
                <a:latin typeface="Aptos" panose="020B0004020202020204" pitchFamily="34" charset="0"/>
              </a:rPr>
              <a:t>these same six steps hold whether it's Copilot, Claude, or a brand-new request like VEO or Runway.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50928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spc="300">
                <a:solidFill>
                  <a:srgbClr val="0078D4"/>
                </a:solidFill>
                <a:latin typeface="Aptos" panose="020B0004020202020204" pitchFamily="34" charset="0"/>
              </a:rPr>
              <a:t>AI LAB  ·  UNIFIED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780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B2038"/>
                </a:solidFill>
                <a:latin typeface="Aptos" panose="020B0004020202020204" pitchFamily="34" charset="0"/>
              </a:rPr>
              <a:t>What the user actually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97696"/>
            <a:ext cx="108813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2038"/>
                </a:solidFill>
                <a:latin typeface="Aptos" panose="020B0004020202020204" pitchFamily="34" charset="0"/>
              </a:rPr>
              <a:t>One portal, one catalog: approved tools are a click away, and new ones are just a request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0789920" cy="3657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9FB6D0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0789920" cy="420000"/>
          </a:xfrm>
          <a:prstGeom prst="roundRect">
            <a:avLst>
              <a:gd name="adj" fmla="val 28000"/>
            </a:avLst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335" y="1690435"/>
            <a:ext cx="6000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 panose="020B0004020202020204" pitchFamily="34" charset="0"/>
              </a:rPr>
              <a:t>AI Lab · Tool Catalog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29928"/>
            <a:ext cx="10332720" cy="320040"/>
          </a:xfrm>
          <a:prstGeom prst="roundRect">
            <a:avLst>
              <a:gd name="adj" fmla="val 50000"/>
            </a:avLst>
          </a:prstGeom>
          <a:solidFill>
            <a:srgbClr val="E4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5800" y="2209156"/>
            <a:ext cx="600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B7A96"/>
                </a:solidFill>
                <a:latin typeface="Aptos" panose="020B0004020202020204" pitchFamily="34" charset="0"/>
              </a:rPr>
              <a:t>🔍  Search tools — e.g. ‘video generation’, ‘copilot’, ‘claude’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32848"/>
            <a:ext cx="2480310" cy="246036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74400" y="2792848"/>
            <a:ext cx="340000" cy="34000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4400" y="3294362"/>
            <a:ext cx="216031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2038"/>
                </a:solidFill>
                <a:latin typeface="Aptos" panose="020B0004020202020204" pitchFamily="34" charset="0"/>
              </a:rPr>
              <a:t>M365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00" y="368513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5B7A96"/>
                </a:solidFill>
                <a:latin typeface="Aptos" panose="020B0004020202020204" pitchFamily="34" charset="0"/>
              </a:rPr>
              <a:t>Licensed · Enterprise Zone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4400" y="4673208"/>
            <a:ext cx="2160310" cy="3200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4400" y="476549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spc="60">
                <a:solidFill>
                  <a:srgbClr val="FFFFFF"/>
                </a:solidFill>
                <a:latin typeface="Aptos" panose="020B0004020202020204" pitchFamily="34" charset="0"/>
              </a:rPr>
              <a:t>OPEN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1870" y="2632848"/>
            <a:ext cx="2480310" cy="246036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91870" y="2792848"/>
            <a:ext cx="340000" cy="34000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91870" y="3294362"/>
            <a:ext cx="216031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2038"/>
                </a:solidFill>
                <a:latin typeface="Aptos" panose="020B0004020202020204" pitchFamily="34" charset="0"/>
              </a:rPr>
              <a:t>Claude AI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1870" y="368513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5B7A96"/>
                </a:solidFill>
                <a:latin typeface="Aptos" panose="020B0004020202020204" pitchFamily="34" charset="0"/>
              </a:rPr>
              <a:t>Licensed · Enterprise Zone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91870" y="4673208"/>
            <a:ext cx="2160310" cy="3200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91870" y="476549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spc="60">
                <a:solidFill>
                  <a:srgbClr val="FFFFFF"/>
                </a:solidFill>
                <a:latin typeface="Aptos" panose="020B0004020202020204" pitchFamily="34" charset="0"/>
              </a:rPr>
              <a:t>OPEN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9340" y="2632848"/>
            <a:ext cx="2480310" cy="246036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09340" y="2792848"/>
            <a:ext cx="340000" cy="34000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40" y="3294362"/>
            <a:ext cx="216031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2038"/>
                </a:solidFill>
                <a:latin typeface="Aptos" panose="020B0004020202020204" pitchFamily="34" charset="0"/>
              </a:rPr>
              <a:t>Google VEO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40" y="368513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5B7A96"/>
                </a:solidFill>
                <a:latin typeface="Aptos" panose="020B0004020202020204" pitchFamily="34" charset="0"/>
              </a:rPr>
              <a:t>Video generation · Sandbox trial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40" y="4673208"/>
            <a:ext cx="2160310" cy="3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40" y="476549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spc="60">
                <a:solidFill>
                  <a:srgbClr val="0078D4"/>
                </a:solidFill>
                <a:latin typeface="Aptos" panose="020B0004020202020204" pitchFamily="34" charset="0"/>
              </a:rPr>
              <a:t>REQUEST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6810" y="2632848"/>
            <a:ext cx="2480310" cy="246036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CF5"/>
            </a:solidFill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26810" y="2792848"/>
            <a:ext cx="340000" cy="34000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26810" y="3294362"/>
            <a:ext cx="216031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2038"/>
                </a:solidFill>
                <a:latin typeface="Aptos" panose="020B0004020202020204" pitchFamily="34" charset="0"/>
              </a:rPr>
              <a:t>Runway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6810" y="368513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5B7A96"/>
                </a:solidFill>
                <a:latin typeface="Aptos" panose="020B0004020202020204" pitchFamily="34" charset="0"/>
              </a:rPr>
              <a:t>Video generation · Sandbox trial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6810" y="4673208"/>
            <a:ext cx="2160310" cy="3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26810" y="4765497"/>
            <a:ext cx="216031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spc="60">
                <a:solidFill>
                  <a:srgbClr val="0078D4"/>
                </a:solidFill>
                <a:latin typeface="Aptos" panose="020B0004020202020204" pitchFamily="34" charset="0"/>
              </a:rPr>
              <a:t>REQUEST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413248"/>
            <a:ext cx="10789920" cy="676656"/>
          </a:xfrm>
          <a:prstGeom prst="roundRect">
            <a:avLst>
              <a:gd name="adj" fmla="val 12162"/>
            </a:avLst>
          </a:prstGeom>
          <a:solidFill>
            <a:srgbClr val="0B2C4A"/>
          </a:solidFill>
          <a:ln>
            <a:noFill/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05840" y="5559215"/>
            <a:ext cx="1014984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FD6F2"/>
                </a:solidFill>
                <a:latin typeface="Aptos" panose="020B0004020202020204" pitchFamily="34" charset="0"/>
              </a:rPr>
              <a:t>Same portal, two states:   </a:t>
            </a:r>
            <a:r>
              <a:rPr sz="1250" b="1">
                <a:solidFill>
                  <a:srgbClr val="FFFFFF"/>
                </a:solidFill>
                <a:latin typeface="Aptos" panose="020B0004020202020204" pitchFamily="34" charset="0"/>
              </a:rPr>
              <a:t>licensed tools open right away, new ones like VEO or Runway show ‘Request Access’ instead, and both paths run through the same AI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50928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500" b="1" spc="300">
                <a:solidFill>
                  <a:srgbClr val="0078D4"/>
                </a:solidFill>
                <a:latin typeface="Aptos" panose="020B0004020202020204" pitchFamily="34" charset="0"/>
              </a:rPr>
              <a:t>AI LAB  ·  REQUESTING A NEW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7808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2800" b="1">
                <a:solidFill>
                  <a:srgbClr val="0B2038"/>
                </a:solidFill>
                <a:latin typeface="Aptos" panose="020B0004020202020204" pitchFamily="34" charset="0"/>
              </a:rPr>
              <a:t>Example: a marketing user requests Google VEO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97696"/>
            <a:ext cx="108813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50" b="1">
                <a:solidFill>
                  <a:srgbClr val="0B2038"/>
                </a:solidFill>
                <a:latin typeface="Aptos" panose="020B0004020202020204" pitchFamily="34" charset="0"/>
              </a:rPr>
              <a:t>The same flow applies to Runway or any other tool that isn't in the catalog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Aptos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943" y="1640455"/>
            <a:ext cx="817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just"/>
            <a:r>
              <a:rPr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80435"/>
            <a:ext cx="10241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00" b="0" dirty="0">
                <a:solidFill>
                  <a:srgbClr val="5B7A96"/>
                </a:solidFill>
                <a:latin typeface="Aptos" panose="020B0004020202020204" pitchFamily="34" charset="0"/>
              </a:rPr>
              <a:t>Types ‘video generation’ into the AI Lab catalog and finds Google VEO and Runway both listed as ‘Request Access’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768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943" y="2280455"/>
            <a:ext cx="817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just"/>
            <a:r>
              <a:rPr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8102"/>
            <a:ext cx="102412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00" b="0" dirty="0">
                <a:solidFill>
                  <a:srgbClr val="5B7A96"/>
                </a:solidFill>
                <a:latin typeface="Aptos" panose="020B0004020202020204" pitchFamily="34" charset="0"/>
              </a:rPr>
              <a:t>Clicks Request and describes the use case, say a draft marketing video, and the Gateway automatically tags it as an external SaaS tool on a sample-data-only risk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52768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943" y="2920455"/>
            <a:ext cx="817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just"/>
            <a:r>
              <a:rPr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60435"/>
            <a:ext cx="10241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00" b="0">
                <a:solidFill>
                  <a:srgbClr val="5B7A96"/>
                </a:solidFill>
                <a:latin typeface="Aptos" panose="020B0004020202020204" pitchFamily="34" charset="0"/>
              </a:rPr>
              <a:t>TechM sets up a scoped, usage-capped API key and opens a sandbox trial in the Innovation Zone, without ever handing over a direct login to VEO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92768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943" y="3560455"/>
            <a:ext cx="817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just"/>
            <a:r>
              <a:rPr sz="12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00435"/>
            <a:ext cx="10241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00" b="0">
                <a:solidFill>
                  <a:srgbClr val="5B7A96"/>
                </a:solidFill>
                <a:latin typeface="Aptos" panose="020B0004020202020204" pitchFamily="34" charset="0"/>
              </a:rPr>
              <a:t>The user trials VEO on synthetic or sample brand assets, entirely inside the unified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32768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943" y="4200455"/>
            <a:ext cx="817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just"/>
            <a:r>
              <a:rPr sz="12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48102"/>
            <a:ext cx="102412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00" b="0" dirty="0">
                <a:solidFill>
                  <a:srgbClr val="5B7A96"/>
                </a:solidFill>
                <a:latin typeface="Aptos" panose="020B0004020202020204" pitchFamily="34" charset="0"/>
              </a:rPr>
              <a:t>Feedback and the business outcome get logged, and if it holds up, VEO is registered as a governed connector, sitting in the same catalog and audit trail as Copilot and Claude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13248"/>
            <a:ext cx="10789920" cy="676656"/>
          </a:xfrm>
          <a:prstGeom prst="roundRect">
            <a:avLst>
              <a:gd name="adj" fmla="val 12162"/>
            </a:avLst>
          </a:prstGeom>
          <a:solidFill>
            <a:srgbClr val="0B2C4A"/>
          </a:solidFill>
          <a:ln>
            <a:noFill/>
          </a:ln>
          <a:effectLst>
            <a:outerShdw blurRad="114300" dist="38100" dir="5400000" algn="bl" rotWithShape="0">
              <a:srgbClr val="9FB6D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Aptos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5559215"/>
            <a:ext cx="1014984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sz="1250" b="1" dirty="0">
                <a:solidFill>
                  <a:srgbClr val="4FD6F2"/>
                </a:solidFill>
                <a:latin typeface="Aptos" panose="020B0004020202020204" pitchFamily="34" charset="0"/>
              </a:rPr>
              <a:t>Nothing bypasses the gateway:   </a:t>
            </a:r>
            <a:r>
              <a:rPr sz="1250" b="1" dirty="0">
                <a:solidFill>
                  <a:srgbClr val="FFFFFF"/>
                </a:solidFill>
                <a:latin typeface="Aptos" panose="020B0004020202020204" pitchFamily="34" charset="0"/>
              </a:rPr>
              <a:t>even a tool nobody's used before still gets requested, trailed and adopted through the same identity, policy and audit trail as everything else.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508</Words>
  <Application>Microsoft Office PowerPoint</Application>
  <PresentationFormat>Custom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Tech Mahindra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Ahlstrom_AI_Lab_Implementation_Usecase</dc:title>
  <dc:subject>Ahlstrom_AI_Lab_Implementation_Usecase</dc:subject>
  <dc:creator>A Vishnuu</dc:creator>
  <cp:lastModifiedBy>A Vishnuu</cp:lastModifiedBy>
  <cp:revision>2</cp:revision>
  <dcterms:created xsi:type="dcterms:W3CDTF">2026-08-05T10:39:21Z</dcterms:created>
  <dcterms:modified xsi:type="dcterms:W3CDTF">2026-08-14T10:45:21Z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b519c6-9f13-416b-ad6c-a79673c31c3f_Enabled">
    <vt:lpwstr>true</vt:lpwstr>
  </property>
  <property fmtid="{D5CDD505-2E9C-101B-9397-08002B2CF9AE}" pid="3" name="MSIP_Label_1ab519c6-9f13-416b-ad6c-a79673c31c3f_SetDate">
    <vt:lpwstr>2026-08-05T10:48:56Z</vt:lpwstr>
  </property>
  <property fmtid="{D5CDD505-2E9C-101B-9397-08002B2CF9AE}" pid="4" name="MSIP_Label_1ab519c6-9f13-416b-ad6c-a79673c31c3f_Method">
    <vt:lpwstr>Privileged</vt:lpwstr>
  </property>
  <property fmtid="{D5CDD505-2E9C-101B-9397-08002B2CF9AE}" pid="5" name="MSIP_Label_1ab519c6-9f13-416b-ad6c-a79673c31c3f_Name">
    <vt:lpwstr>Company Confidential External Use</vt:lpwstr>
  </property>
  <property fmtid="{D5CDD505-2E9C-101B-9397-08002B2CF9AE}" pid="6" name="MSIP_Label_1ab519c6-9f13-416b-ad6c-a79673c31c3f_SiteId">
    <vt:lpwstr>edf442f5-b994-4c86-a131-b42b03a16c95</vt:lpwstr>
  </property>
  <property fmtid="{D5CDD505-2E9C-101B-9397-08002B2CF9AE}" pid="7" name="MSIP_Label_1ab519c6-9f13-416b-ad6c-a79673c31c3f_ActionId">
    <vt:lpwstr>29169648-58ce-4ff5-a7b7-2486579789eb</vt:lpwstr>
  </property>
  <property fmtid="{D5CDD505-2E9C-101B-9397-08002B2CF9AE}" pid="8" name="MSIP_Label_1ab519c6-9f13-416b-ad6c-a79673c31c3f_ContentBits">
    <vt:lpwstr>0</vt:lpwstr>
  </property>
  <property fmtid="{D5CDD505-2E9C-101B-9397-08002B2CF9AE}" pid="9" name="MSIP_Label_1ab519c6-9f13-416b-ad6c-a79673c31c3f_Tag">
    <vt:lpwstr>10, 0, 1, 1</vt:lpwstr>
  </property>
</Properties>
</file>