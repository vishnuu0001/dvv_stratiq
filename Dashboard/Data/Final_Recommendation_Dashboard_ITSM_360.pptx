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RECOMMENDATION DASHBOARD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89611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 Digital Operations Cockpit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2148840"/>
            <a:ext cx="8046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 2025 | Matplotlib Analytics + FastAPI Services + Grafana Visualization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9281160" cy="1078992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direction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operations-centric dashboard focused on cycle time, hotspots, risk signals and automation candidates — not only SLA reporting.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58368" y="50474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39,973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records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78608" y="50474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21,488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Requests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98848" y="50474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17,122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Inquiries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19088" y="50474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493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39328" y="50474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FFFFFF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870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6355080"/>
            <a:ext cx="6583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masked ServiceNow yearly dump and sample dashboard direction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RECOMMENDATION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dashboard: the data says “operate &amp; optimize”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pic>
        <p:nvPicPr>
          <p:cNvPr id="8" name="Image 0" descr="/mnt/data/itsm_dashboard_assets/work_type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30710"/>
            <a:ext cx="3977640" cy="2880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0" y="1536192"/>
            <a:ext cx="6903720" cy="1115568"/>
          </a:xfrm>
          <a:prstGeom prst="roundRect">
            <a:avLst>
              <a:gd name="adj" fmla="val 6557"/>
            </a:avLst>
          </a:prstGeom>
          <a:solidFill>
            <a:srgbClr val="EFF6FF"/>
          </a:solidFill>
          <a:ln>
            <a:solidFill>
              <a:srgbClr val="2563EB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design principle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ServiceNow data to expose operational demand, service bottlenecks, application hotspots, change risk and automation opportunities.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2907792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2563EB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4.58d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SR cycle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55664" y="2907792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16A34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12.47d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Inquiry cycle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56448" y="2907792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DC2626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135h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Incident MTTR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857232" y="2907792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12700">
            <a:solidFill>
              <a:srgbClr val="7C3AED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38.45d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Change cycle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54880" y="4069080"/>
            <a:ext cx="6903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finding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SLA field is uniformly positive across the major sheets, so SLA alone will not drive performance improvement. The meaningful signals are cycle time, P90 ageing, assignment-group concentration, application hotspots and emergency-change load.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BLUEPRINT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dashboard design: ITSM 360 operating model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FF6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Executive Operations Cockpit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view of workload, cycle time and risk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page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2880360" y="1572768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EF2F2"/>
          </a:solidFill>
          <a:ln>
            <a:solidFill>
              <a:srgbClr val="DC2626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Incident Command Center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MTTR, P50/P90, app hotspots and support performance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page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5138928" y="1572768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CFDF5"/>
          </a:solidFill>
          <a:ln>
            <a:solidFill>
              <a:srgbClr val="16A34A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SR &amp; Inquiry Performance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trend, request ageing and fulfilment bottlenecks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page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7397496" y="1572768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5F3FF"/>
          </a:solidFill>
          <a:ln>
            <a:solidFill>
              <a:srgbClr val="7C3AED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Change &amp; Release Risk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changes, validation results and release health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page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656064" y="1572768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BEB"/>
          </a:solidFill>
          <a:ln>
            <a:solidFill>
              <a:srgbClr val="F59E0B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Automation Opportunity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Repetitive demand clusters and GenAI / agent backlog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page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749808" y="553212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first release: Executive Cockpit + Incident Command Center + Change Risk, then add automation candidate mining.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DASHBOARD PAGE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Operations Cockpit: management dashboard view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1426464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2563EB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39,973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tickets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1426464"/>
            <a:ext cx="1426464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2563EB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21,488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requests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30752" y="1426464"/>
            <a:ext cx="1426464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16A34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17,122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Inquiries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12664" y="1426464"/>
            <a:ext cx="1426464" cy="713232"/>
          </a:xfrm>
          <a:prstGeom prst="roundRect">
            <a:avLst>
              <a:gd name="adj" fmla="val 10256"/>
            </a:avLst>
          </a:prstGeom>
          <a:solidFill>
            <a:srgbClr val="FEF2F2"/>
          </a:solidFill>
          <a:ln w="12700">
            <a:solidFill>
              <a:srgbClr val="DC2626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493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94576" y="1426464"/>
            <a:ext cx="1426464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 w="12700">
            <a:solidFill>
              <a:srgbClr val="7C3AED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870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76488" y="1426464"/>
            <a:ext cx="1426464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 w="12700">
            <a:solidFill>
              <a:srgbClr val="F59E0B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flag*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0" y="1426464"/>
            <a:ext cx="1426464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0F172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pages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MVP</a:t>
            </a:r>
            <a:endParaRPr lang="en-US" sz="1800" dirty="0"/>
          </a:p>
        </p:txBody>
      </p:sp>
      <p:pic>
        <p:nvPicPr>
          <p:cNvPr id="15" name="Image 0" descr="/mnt/data/itsm_dashboard_assets/monthly_volum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26877"/>
            <a:ext cx="5623560" cy="2775847"/>
          </a:xfrm>
          <a:prstGeom prst="rect">
            <a:avLst/>
          </a:prstGeom>
        </p:spPr>
      </p:pic>
      <p:pic>
        <p:nvPicPr>
          <p:cNvPr id="16" name="Image 1" descr="/mnt/data/itsm_dashboard_assets/cycle_time_b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87508"/>
            <a:ext cx="5303520" cy="26545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8368" y="6062472"/>
            <a:ext cx="10881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SLA is not a differentiator in this dump because the flag is uniformly true; treat it as a control metric, not the main performance driver.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DASHBOARD PAGE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 Command Center: MTTR, hotspots and operational stability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>
            <a:solidFill>
              <a:srgbClr val="DC2626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493 Incidents in 2025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time to resolve: 135h | P90: 329h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67328" y="1444752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hotspots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iOTD-App and P2P dominate incident load, suggesting focused problem management and runbook automation.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444752"/>
            <a:ext cx="4526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panels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trend • P50/P90 resolve time • application + assignment-group hotspots</a:t>
            </a:r>
            <a:endParaRPr lang="en-US" sz="1100" dirty="0"/>
          </a:p>
        </p:txBody>
      </p:sp>
      <p:pic>
        <p:nvPicPr>
          <p:cNvPr id="11" name="Image 0" descr="/mnt/data/itsm_dashboard_assets/incident_app_hotsp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823116"/>
            <a:ext cx="5623560" cy="3049711"/>
          </a:xfrm>
          <a:prstGeom prst="rect">
            <a:avLst/>
          </a:prstGeom>
        </p:spPr>
      </p:pic>
      <p:pic>
        <p:nvPicPr>
          <p:cNvPr id="12" name="Image 1" descr="/mnt/data/itsm_dashboard_assets/sr_top_grou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71150"/>
            <a:ext cx="5074920" cy="2753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DASHBOARD PAGE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Request &amp; Inquiry Performance: demand and fulfilment view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>
            <a:solidFill>
              <a:srgbClr val="16A34A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concentration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Requests and Inquiries represent 96.6% of total volume; this is the biggest productivity and automation opportunity.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989320" y="1444752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focus</a:t>
            </a:r>
            <a:endParaRPr lang="en-US" sz="1130" dirty="0"/>
          </a:p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monthly demand pulse by channel / application / assignment group. Use P90 ageing to identify hidden backlog even when SLA remains green.</a:t>
            </a:r>
            <a:endParaRPr lang="en-US" sz="1130" dirty="0"/>
          </a:p>
        </p:txBody>
      </p:sp>
      <p:pic>
        <p:nvPicPr>
          <p:cNvPr id="10" name="Image 0" descr="/mnt/data/itsm_dashboard_assets/monthly_volum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62189"/>
            <a:ext cx="5577840" cy="2753279"/>
          </a:xfrm>
          <a:prstGeom prst="rect">
            <a:avLst/>
          </a:prstGeom>
        </p:spPr>
      </p:pic>
      <p:pic>
        <p:nvPicPr>
          <p:cNvPr id="11" name="Image 1" descr="/mnt/data/itsm_dashboard_assets/cycle_time_b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045863"/>
            <a:ext cx="5166360" cy="25859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DASHBOARD PAGE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&amp; Release Risk: emergency load, release stability and validation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7C3AED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870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changes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95728" y="142646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DC2626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69664" y="142646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F59E0B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137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142646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DC2626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Upgraded to emergency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17536" y="142646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16A34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843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planned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91472" y="142646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16A34A">
                <a:alpha val="8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841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OK</a:t>
            </a:r>
            <a:endParaRPr lang="en-US" sz="1800" dirty="0"/>
          </a:p>
        </p:txBody>
      </p:sp>
      <p:pic>
        <p:nvPicPr>
          <p:cNvPr id="14" name="Image 0" descr="/mnt/data/itsm_dashboard_assets/change_type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053465"/>
            <a:ext cx="3337560" cy="2122670"/>
          </a:xfrm>
          <a:prstGeom prst="rect">
            <a:avLst/>
          </a:prstGeom>
        </p:spPr>
      </p:pic>
      <p:pic>
        <p:nvPicPr>
          <p:cNvPr id="15" name="Image 1" descr="/mnt/data/itsm_dashboard_assets/change_risk_sign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3141181"/>
            <a:ext cx="3886200" cy="1947239"/>
          </a:xfrm>
          <a:prstGeom prst="rect">
            <a:avLst/>
          </a:prstGeom>
        </p:spPr>
      </p:pic>
      <p:pic>
        <p:nvPicPr>
          <p:cNvPr id="16" name="Image 2" descr="/mnt/data/itsm_dashboard_assets/change_app_hotsp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196919"/>
            <a:ext cx="3383280" cy="1835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DASHBOARD PAGE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automation opportunity: convert repetitive demand into action backlog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pic>
        <p:nvPicPr>
          <p:cNvPr id="8" name="Image 0" descr="/mnt/data/itsm_dashboard_assets/automa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82380"/>
            <a:ext cx="6080760" cy="3169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95160" y="1591056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>
            <a:solidFill>
              <a:srgbClr val="F59E0B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scoring model</a:t>
            </a:r>
            <a:endParaRPr lang="en-US" sz="1140" dirty="0"/>
          </a:p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× repetition × cycle time × assignment-group load × low-complexity classification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6995160" y="2880360"/>
            <a:ext cx="448056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candidates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Password reset and access / user ID workflows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Printer setup and repetitive request operations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P2P and NX-PDM request routing automation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Inquiry deflection through GenAI knowledge assistant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remediation runbooks for incident-heavy apps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995160" y="5632704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ranked backlog for AI agents, knowledge articles and runbook automation.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Matplotlib + FastAPI + Grafana: service exposure pattern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194560" y="3273552"/>
            <a:ext cx="65836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3273552"/>
            <a:ext cx="65836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3273552"/>
            <a:ext cx="65836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03920" y="3273552"/>
            <a:ext cx="65836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1444752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XLSX Dump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 export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80360" y="2926080"/>
            <a:ext cx="1444752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+ aggregate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926080"/>
            <a:ext cx="1444752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/ JSON / Parquet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2926080"/>
            <a:ext cx="1444752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+ PNG + metrics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89720" y="2926080"/>
            <a:ext cx="1444752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+ image panels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14173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design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both metric APIs and Matplotlib-rendered PNG panels so Grafana can combine native interactivity with custom analytics visuals.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291072" y="141732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5F3FF"/>
          </a:solidFill>
          <a:ln>
            <a:solidFill>
              <a:srgbClr val="7C3AED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Grafana usage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API / Infinity for metrics; Prometheus for KPIs; Image / HTML panels for Matplotlib PNGs.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service endpoints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/api/kpis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035808" y="4709160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/api/monthly-volume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157216" y="4709160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/api/cycle-time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278624" y="4709160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/api/assignment-hotspots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400032" y="4709160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/api/application-hotspots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14400" y="514807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/api/incidents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035808" y="514807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/api/changes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157216" y="514807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/api/automation-candidates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278624" y="514807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/render/{panel}.png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9400032" y="514807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/metrics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implementation plan: build once, reuse across Grafana pages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73952"/>
            <a:ext cx="5577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Digital Operations Cockpit | ServiceNow 2025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40664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NTBI-SNOW Yearly Dump 2025 (masked)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EFF6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profiling &amp; metric model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date fields, duration rules, SLA caveat and app/group mappings.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953512" y="155448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EFF6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 panel library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reusable chart functions for trend, Pareto, heatmap, risk and automation matrix.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221224" y="155448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EFF6FF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3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service layer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JSON metrics, PNG render endpoints and Prometheus-compatible /metrics.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488936" y="155448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F5F3FF"/>
          </a:solidFill>
          <a:ln>
            <a:solidFill>
              <a:srgbClr val="7C3AED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4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dashboard build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pages, variables, native panels, image panels and role-based views.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Operationalize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756648" y="1554480"/>
            <a:ext cx="1993392" cy="3520440"/>
          </a:xfrm>
          <a:prstGeom prst="roundRect">
            <a:avLst>
              <a:gd name="adj" fmla="val 3670"/>
            </a:avLst>
          </a:prstGeom>
          <a:solidFill>
            <a:srgbClr val="ECFDF5"/>
          </a:solidFill>
          <a:ln>
            <a:solidFill>
              <a:srgbClr val="16A34A">
                <a:alpha val="9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5–6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 &amp; adoption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refresh, data quality checks, documentation and stakeholder walkthrough.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Operationalize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60120" y="5532120"/>
            <a:ext cx="1033272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ask: Approve MVP as the standard ITSM operations cockpit and reuse the same service layer for future predictive / preventive analytics.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Tech Mahindra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Recommendation Dashboard</dc:title>
  <dc:subject>PptxGenJS Presentation</dc:subject>
  <dc:creator>OpenAI</dc:creator>
  <cp:lastModifiedBy>OpenAI</cp:lastModifiedBy>
  <cp:revision>1</cp:revision>
  <dcterms:created xsi:type="dcterms:W3CDTF">2026-05-21T11:02:59Z</dcterms:created>
  <dcterms:modified xsi:type="dcterms:W3CDTF">2026-05-21T11:02:59Z</dcterms:modified>
</cp:coreProperties>
</file>